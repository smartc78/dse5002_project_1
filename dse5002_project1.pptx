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C8F4A2-7410-692B-4464-DDBE893F28A3}" v="461" dt="2025-12-01T05:04:47.0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522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823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92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321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61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114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354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03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79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919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22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65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10049"/>
            <a:ext cx="9144000" cy="828734"/>
          </a:xfrm>
        </p:spPr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Data Scientist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1011" y="5972665"/>
            <a:ext cx="3690651" cy="276652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1000" dirty="0">
                <a:ea typeface="Calibri"/>
                <a:cs typeface="Calibri"/>
              </a:rPr>
              <a:t>Prepared by Cheryl Smart</a:t>
            </a:r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389C6F-9656-F055-C77F-23FA6EF892C0}"/>
              </a:ext>
            </a:extLst>
          </p:cNvPr>
          <p:cNvSpPr txBox="1"/>
          <p:nvPr/>
        </p:nvSpPr>
        <p:spPr>
          <a:xfrm>
            <a:off x="833633" y="3503533"/>
            <a:ext cx="107089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Transform raw data into actionable insights that drive strategic decisions and gain a competitive edge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F1645D-4327-92CA-FF62-012251991897}"/>
              </a:ext>
            </a:extLst>
          </p:cNvPr>
          <p:cNvSpPr txBox="1"/>
          <p:nvPr/>
        </p:nvSpPr>
        <p:spPr>
          <a:xfrm>
            <a:off x="229519" y="243289"/>
            <a:ext cx="76016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81C995"/>
                </a:solidFill>
              </a:rPr>
              <a:t>  </a:t>
            </a:r>
            <a:endParaRPr lang="en-US" dirty="0"/>
          </a:p>
        </p:txBody>
      </p:sp>
      <p:pic>
        <p:nvPicPr>
          <p:cNvPr id="4" name="Picture 3" descr="A graph of a salary distribution by employee residence&#10;&#10;AI-generated content may be incorrect.">
            <a:extLst>
              <a:ext uri="{FF2B5EF4-FFF2-40B4-BE49-F238E27FC236}">
                <a16:creationId xmlns:a16="http://schemas.microsoft.com/office/drawing/2014/main" id="{25E23969-CCAB-5545-688C-335FE4D16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40" y="175064"/>
            <a:ext cx="5314607" cy="3606763"/>
          </a:xfrm>
          <a:prstGeom prst="rect">
            <a:avLst/>
          </a:prstGeom>
        </p:spPr>
      </p:pic>
      <p:pic>
        <p:nvPicPr>
          <p:cNvPr id="5" name="Picture 4" descr="A diagram of a salary distribution&#10;&#10;AI-generated content may be incorrect.">
            <a:extLst>
              <a:ext uri="{FF2B5EF4-FFF2-40B4-BE49-F238E27FC236}">
                <a16:creationId xmlns:a16="http://schemas.microsoft.com/office/drawing/2014/main" id="{4986DB4A-268E-DE42-4FE0-A2947D57A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178" y="2249276"/>
            <a:ext cx="5966438" cy="381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06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8FA105-77B2-2B3F-855C-40D93F650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62D17-07E2-4746-83A5-7ED5C99EBBDB}" type="datetime1">
              <a:t>11/30/2025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CEAAF3-6B02-EC52-F5E3-F8B2BF437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F4381-F872-4695-D8C4-28117BC2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3</a:t>
            </a:fld>
            <a:endParaRPr lang="en-US" dirty="0"/>
          </a:p>
        </p:txBody>
      </p:sp>
      <p:pic>
        <p:nvPicPr>
          <p:cNvPr id="8" name="Picture 7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CFDD67C3-E06F-965E-4FBF-39F5194DA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30" y="2508082"/>
            <a:ext cx="5666373" cy="3616493"/>
          </a:xfrm>
          <a:prstGeom prst="rect">
            <a:avLst/>
          </a:prstGeom>
        </p:spPr>
      </p:pic>
      <p:pic>
        <p:nvPicPr>
          <p:cNvPr id="9" name="Picture 8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9A01A6B0-394B-4F3D-851B-D4ADB7C0D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604" y="383256"/>
            <a:ext cx="4864268" cy="304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3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7E51E2-4206-4CBE-9BCC-CC58A18EB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EBA192B-F9CF-4D33-91B3-27F70E2E830E}" type="datetime1">
              <a:rPr lang="en-US"/>
              <a:pPr>
                <a:spcAft>
                  <a:spcPts val="600"/>
                </a:spcAft>
              </a:pPr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B57E8-BB52-1133-7EF3-40A9A21D7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kern="1200">
                <a:latin typeface="+mj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F2621-624B-0354-A8CA-1CDC39C7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9" name="Picture 8" descr="A diagram of a salary distribution by experience&#10;&#10;AI-generated content may be incorrect.">
            <a:extLst>
              <a:ext uri="{FF2B5EF4-FFF2-40B4-BE49-F238E27FC236}">
                <a16:creationId xmlns:a16="http://schemas.microsoft.com/office/drawing/2014/main" id="{B27D7524-BE6E-53F4-0105-8FC86A321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78" y="444417"/>
            <a:ext cx="8353425" cy="52673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4368E8-A90D-014D-B395-0DC2989913CD}"/>
              </a:ext>
            </a:extLst>
          </p:cNvPr>
          <p:cNvSpPr txBox="1"/>
          <p:nvPr/>
        </p:nvSpPr>
        <p:spPr>
          <a:xfrm>
            <a:off x="9474868" y="1534026"/>
            <a:ext cx="2316078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Range for Mid-level</a:t>
            </a:r>
          </a:p>
          <a:p>
            <a:r>
              <a:rPr lang="en-US" sz="1600" dirty="0"/>
              <a:t>     $50,000-112,500</a:t>
            </a:r>
          </a:p>
          <a:p>
            <a:r>
              <a:rPr lang="en-US" sz="1600" dirty="0"/>
              <a:t>Range for Senior-level</a:t>
            </a:r>
          </a:p>
          <a:p>
            <a:r>
              <a:rPr lang="en-US" sz="1600" dirty="0"/>
              <a:t>   $100,000-$170,000</a:t>
            </a:r>
          </a:p>
        </p:txBody>
      </p:sp>
    </p:spTree>
    <p:extLst>
      <p:ext uri="{BB962C8B-B14F-4D97-AF65-F5344CB8AC3E}">
        <p14:creationId xmlns:p14="http://schemas.microsoft.com/office/powerpoint/2010/main" val="108542672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GradientRiseVTI</vt:lpstr>
      <vt:lpstr>Data Scientist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174</cp:revision>
  <dcterms:created xsi:type="dcterms:W3CDTF">2025-12-01T03:12:46Z</dcterms:created>
  <dcterms:modified xsi:type="dcterms:W3CDTF">2025-12-01T05:09:00Z</dcterms:modified>
</cp:coreProperties>
</file>